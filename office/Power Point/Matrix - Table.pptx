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Στυλ με θέμα 1 - Έμφαση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Μεσαίο στυλ 2 - Έμφαση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l-G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l-GR" dirty="0"/>
              <a:t>ΓΡΑΦΗΜΑ – Α Τρίμηνο 2025 Πωλήσεις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Φύλλο1!$B$1</c:f>
              <c:strCache>
                <c:ptCount val="1"/>
                <c:pt idx="0">
                  <c:v>ΕΣΟΔΑ</c:v>
                </c:pt>
              </c:strCache>
            </c:strRef>
          </c:tx>
          <c:invertIfNegative val="0"/>
          <c:cat>
            <c:strRef>
              <c:f>Φύλλο1!$A$2:$A$4</c:f>
              <c:strCache>
                <c:ptCount val="3"/>
                <c:pt idx="0">
                  <c:v>Ιαν</c:v>
                </c:pt>
                <c:pt idx="1">
                  <c:v>Φεβ</c:v>
                </c:pt>
                <c:pt idx="2">
                  <c:v>Μαρ</c:v>
                </c:pt>
              </c:strCache>
            </c:strRef>
          </c:cat>
          <c:val>
            <c:numRef>
              <c:f>Φύλλο1!$B$2:$B$4</c:f>
              <c:numCache>
                <c:formatCode>General</c:formatCode>
                <c:ptCount val="3"/>
                <c:pt idx="0">
                  <c:v>100</c:v>
                </c:pt>
                <c:pt idx="1">
                  <c:v>110</c:v>
                </c:pt>
                <c:pt idx="2">
                  <c:v>70</c:v>
                </c:pt>
              </c:numCache>
            </c:numRef>
          </c:val>
        </c:ser>
        <c:ser>
          <c:idx val="1"/>
          <c:order val="1"/>
          <c:tx>
            <c:strRef>
              <c:f>Φύλλο1!$C$1</c:f>
              <c:strCache>
                <c:ptCount val="1"/>
                <c:pt idx="0">
                  <c:v>ΕΞΟΔΑ</c:v>
                </c:pt>
              </c:strCache>
            </c:strRef>
          </c:tx>
          <c:invertIfNegative val="0"/>
          <c:cat>
            <c:strRef>
              <c:f>Φύλλο1!$A$2:$A$4</c:f>
              <c:strCache>
                <c:ptCount val="3"/>
                <c:pt idx="0">
                  <c:v>Ιαν</c:v>
                </c:pt>
                <c:pt idx="1">
                  <c:v>Φεβ</c:v>
                </c:pt>
                <c:pt idx="2">
                  <c:v>Μαρ</c:v>
                </c:pt>
              </c:strCache>
            </c:strRef>
          </c:cat>
          <c:val>
            <c:numRef>
              <c:f>Φύλλο1!$C$2:$C$4</c:f>
              <c:numCache>
                <c:formatCode>General</c:formatCode>
                <c:ptCount val="3"/>
                <c:pt idx="0">
                  <c:v>80</c:v>
                </c:pt>
                <c:pt idx="1">
                  <c:v>90</c:v>
                </c:pt>
                <c:pt idx="2">
                  <c:v>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2051072"/>
        <c:axId val="42068608"/>
      </c:barChart>
      <c:catAx>
        <c:axId val="42051072"/>
        <c:scaling>
          <c:orientation val="minMax"/>
        </c:scaling>
        <c:delete val="0"/>
        <c:axPos val="l"/>
        <c:majorTickMark val="none"/>
        <c:minorTickMark val="none"/>
        <c:tickLblPos val="nextTo"/>
        <c:crossAx val="42068608"/>
        <c:crosses val="autoZero"/>
        <c:auto val="1"/>
        <c:lblAlgn val="ctr"/>
        <c:lblOffset val="100"/>
        <c:noMultiLvlLbl val="0"/>
      </c:catAx>
      <c:valAx>
        <c:axId val="42068608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crossAx val="4205107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l-G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255F2-C57D-4BBA-9DFB-21EAE315B019}" type="datetimeFigureOut">
              <a:rPr lang="el-GR" smtClean="0"/>
              <a:t>10/1/2025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367E3-13B2-4A59-84FD-DFC2E9072DF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81015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A5570-1C3C-459E-B8D9-D5CF530D9F1B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 dirty="0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D478D-E80D-4378-8AC6-C08B3BAA79D1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9550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BRUUUUUUUUUUUH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AD478D-E80D-4378-8AC6-C08B3BAA79D1}" type="slidenum">
              <a:rPr lang="el-GR" smtClean="0"/>
              <a:t>1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496891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Totally</a:t>
            </a:r>
            <a:r>
              <a:rPr lang="en-US" baseline="0" dirty="0" smtClean="0"/>
              <a:t> not a Nazi Pig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AD478D-E80D-4378-8AC6-C08B3BAA79D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99775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SUS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AD478D-E80D-4378-8AC6-C08B3BAA79D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68391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OOF!!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AD478D-E80D-4378-8AC6-C08B3BAA79D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9712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Υπότιτλος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l-GR" smtClean="0"/>
              <a:t>Στυλ κύριου υπότιτλου</a:t>
            </a:r>
            <a:endParaRPr kumimoji="0" lang="en-US"/>
          </a:p>
        </p:txBody>
      </p:sp>
      <p:sp>
        <p:nvSpPr>
          <p:cNvPr id="28" name="Τίτλος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cxnSp>
        <p:nvCxnSpPr>
          <p:cNvPr id="8" name="Ευθεία γραμμή σύνδεσης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Ευθεία γραμμή σύνδεσης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Έλλειψη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Θέση ημερομηνίας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16" name="Θέση αριθμού διαφάνειας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7" name="Θέση υποσέλιδου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l-G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Θέση περιεχομένου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14" name="Θέση ημερομηνίας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15" name="Θέση αριθμού διαφάνειας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6" name="Θέση υποσέλιδου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17" name="Τίτλος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l-GR" smtClean="0"/>
              <a:t>Στυλ υποδείγματος κειμένου</a:t>
            </a:r>
          </a:p>
        </p:txBody>
      </p:sp>
      <p:cxnSp>
        <p:nvCxnSpPr>
          <p:cNvPr id="7" name="Ευθεία γραμμή σύνδεσης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11" name="Θέση περιεχομένου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13" name="Θέση περιεχομένου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 smtClean="0"/>
              <a:t>Στυλ υποδείγματος κειμένου</a:t>
            </a:r>
          </a:p>
        </p:txBody>
      </p:sp>
      <p:sp>
        <p:nvSpPr>
          <p:cNvPr id="32" name="Θέση περιεχομένου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34" name="Θέση περιεχομένου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12" name="Θέση κειμένου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 smtClean="0"/>
              <a:t>Στυλ υποδείγματος κειμένου</a:t>
            </a:r>
          </a:p>
        </p:txBody>
      </p:sp>
      <p:cxnSp>
        <p:nvCxnSpPr>
          <p:cNvPr id="10" name="Ευθεία γραμμή σύνδεσης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Ευθεία γραμμή σύνδεσης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Θέση περιεχομένου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l-GR" smtClean="0"/>
              <a:t>Στυλ υποδείγματος κειμένου</a:t>
            </a:r>
          </a:p>
        </p:txBody>
      </p:sp>
      <p:sp>
        <p:nvSpPr>
          <p:cNvPr id="31" name="Τίτλος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8" name="Θέση ημερομηνίας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0" name="Θέση υποσέλιδου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l-G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l-GR" dirty="0" smtClean="0"/>
              <a:t>Κάντε κλικ στο εικονίδιο για να προσθέσετε μια εικόνα</a:t>
            </a:r>
            <a:endParaRPr kumimoji="0" lang="en-US" dirty="0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l-GR" smtClean="0"/>
              <a:t>Στυλ υποδείγματος κειμένου</a:t>
            </a:r>
          </a:p>
        </p:txBody>
      </p:sp>
      <p:sp>
        <p:nvSpPr>
          <p:cNvPr id="8" name="Θέση ημερομηνίας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10" name="Θέση υποσέλιδου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l-G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l-GR" smtClean="0"/>
              <a:t>Στυλ υποδείγματος κειμένου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Θέση κειμένου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l-GR" smtClean="0"/>
              <a:t>Στυλ υποδείγματος κειμένου</a:t>
            </a:r>
          </a:p>
          <a:p>
            <a:pPr lvl="1" eaLnBrk="1" latinLnBrk="0" hangingPunct="1"/>
            <a:r>
              <a:rPr kumimoji="0" lang="el-GR" smtClean="0"/>
              <a:t>Δεύτερου επιπέδου</a:t>
            </a:r>
          </a:p>
          <a:p>
            <a:pPr lvl="2" eaLnBrk="1" latinLnBrk="0" hangingPunct="1"/>
            <a:r>
              <a:rPr kumimoji="0" lang="el-GR" smtClean="0"/>
              <a:t>Τρίτου επιπέδου</a:t>
            </a:r>
          </a:p>
          <a:p>
            <a:pPr lvl="3" eaLnBrk="1" latinLnBrk="0" hangingPunct="1"/>
            <a:r>
              <a:rPr kumimoji="0" lang="el-GR" smtClean="0"/>
              <a:t>Τέταρτου επιπέδου</a:t>
            </a:r>
          </a:p>
          <a:p>
            <a:pPr lvl="4" eaLnBrk="1" latinLnBrk="0" hangingPunct="1"/>
            <a:r>
              <a:rPr kumimoji="0" lang="el-GR" smtClean="0"/>
              <a:t>Πέμπτου επιπέδου</a:t>
            </a:r>
            <a:endParaRPr kumimoji="0" lang="en-US"/>
          </a:p>
        </p:txBody>
      </p:sp>
      <p:sp>
        <p:nvSpPr>
          <p:cNvPr id="24" name="Θέση ημερομηνίας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D8E966F-50C2-4AD9-8E30-19520D32B3C5}" type="datetimeFigureOut">
              <a:rPr lang="el-GR" smtClean="0"/>
              <a:t>10/1/2025</a:t>
            </a:fld>
            <a:endParaRPr lang="el-GR" dirty="0"/>
          </a:p>
        </p:txBody>
      </p:sp>
      <p:sp>
        <p:nvSpPr>
          <p:cNvPr id="10" name="Θέση υποσέλιδου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l-GR" dirty="0"/>
          </a:p>
        </p:txBody>
      </p:sp>
      <p:sp>
        <p:nvSpPr>
          <p:cNvPr id="22" name="Θέση αριθμού διαφάνειας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4508496E-4B76-4BB8-A84F-5C766DF1ECD1}" type="slidenum">
              <a:rPr lang="el-GR" smtClean="0"/>
              <a:t>‹#›</a:t>
            </a:fld>
            <a:endParaRPr lang="el-GR" dirty="0"/>
          </a:p>
        </p:txBody>
      </p:sp>
      <p:sp>
        <p:nvSpPr>
          <p:cNvPr id="5" name="Θέση τίτλου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l-GR" smtClean="0"/>
              <a:t>Στυλ κύριου τίτλου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331640" y="1484784"/>
            <a:ext cx="6400800" cy="1752600"/>
          </a:xfrm>
        </p:spPr>
        <p:txBody>
          <a:bodyPr/>
          <a:lstStyle/>
          <a:p>
            <a:r>
              <a:rPr lang="el-GR" dirty="0" smtClean="0"/>
              <a:t>ΤΟ ΠΙΝΑΚΙ </a:t>
            </a:r>
            <a:r>
              <a:rPr lang="en-US" dirty="0" smtClean="0"/>
              <a:t>TE CHIFCA ROPT </a:t>
            </a:r>
            <a:r>
              <a:rPr lang="el-GR" dirty="0" smtClean="0"/>
              <a:t>ΓΙΑ ΤΟ ΠΑΡΟΥΤΣΙΑΣΗ ΡΕ ΕΛΜΠΑΣΑΝΙ!</a:t>
            </a:r>
            <a:endParaRPr lang="el-GR" dirty="0"/>
          </a:p>
        </p:txBody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683568" y="188640"/>
            <a:ext cx="7772400" cy="1470025"/>
          </a:xfrm>
        </p:spPr>
        <p:txBody>
          <a:bodyPr/>
          <a:lstStyle/>
          <a:p>
            <a:r>
              <a:rPr lang="en-US" dirty="0" smtClean="0"/>
              <a:t>Matrix - Table</a:t>
            </a:r>
            <a:endParaRPr lang="el-GR" dirty="0"/>
          </a:p>
        </p:txBody>
      </p:sp>
      <p:graphicFrame>
        <p:nvGraphicFramePr>
          <p:cNvPr id="5" name="Πίνακας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577809"/>
              </p:ext>
            </p:extLst>
          </p:nvPr>
        </p:nvGraphicFramePr>
        <p:xfrm>
          <a:off x="1547664" y="2636912"/>
          <a:ext cx="6096000" cy="19080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72008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CHIFCA</a:t>
                      </a:r>
                      <a:r>
                        <a:rPr lang="en-US" baseline="0" dirty="0" smtClean="0"/>
                        <a:t> ROPT SHQIPTARE – </a:t>
                      </a:r>
                      <a:r>
                        <a:rPr lang="el-GR" baseline="0" dirty="0" smtClean="0"/>
                        <a:t>ΕΒΔΟΜΑΔΙΑΙΟ ΠΡΟΓΡΑΜΜΑ</a:t>
                      </a:r>
                      <a:endParaRPr lang="el-GR" i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</a:tr>
              <a:tr h="396000">
                <a:tc rowSpan="3"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bg1"/>
                          </a:solidFill>
                          <a:effectLst/>
                        </a:rPr>
                        <a:t>SAFCA</a:t>
                      </a:r>
                      <a:r>
                        <a:rPr lang="en-US" b="1" baseline="0" dirty="0" smtClean="0">
                          <a:solidFill>
                            <a:schemeClr val="bg1"/>
                          </a:solidFill>
                          <a:effectLst/>
                        </a:rPr>
                        <a:t> BILE – </a:t>
                      </a:r>
                      <a:r>
                        <a:rPr lang="el-GR" b="1" baseline="0" dirty="0" smtClean="0">
                          <a:solidFill>
                            <a:schemeClr val="bg1"/>
                          </a:solidFill>
                          <a:effectLst/>
                        </a:rPr>
                        <a:t>ΩΡΕΣ ΜΑΘΗΜΑΤΩΝ</a:t>
                      </a:r>
                      <a:endParaRPr lang="el-GR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</a:tr>
              <a:tr h="396000">
                <a:tc v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</a:tr>
              <a:tr h="396000">
                <a:tc v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Πίνακας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735888"/>
              </p:ext>
            </p:extLst>
          </p:nvPr>
        </p:nvGraphicFramePr>
        <p:xfrm>
          <a:off x="1547664" y="5157192"/>
          <a:ext cx="6096000" cy="1010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l-GR" dirty="0" smtClean="0"/>
                        <a:t>ωμαγ οτ ικατιπσ</a:t>
                      </a:r>
                      <a:r>
                        <a:rPr lang="el-GR" baseline="0" dirty="0" smtClean="0"/>
                        <a:t> 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smtClean="0"/>
                        <a:t>ςιενρεπ</a:t>
                      </a:r>
                      <a:r>
                        <a:rPr lang="el-GR" baseline="0" dirty="0" smtClean="0"/>
                        <a:t> οστουπ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002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Διάγραμμα ροής: Έξοδος σε μέσο άμεσης πρόσβασης 13"/>
          <p:cNvSpPr/>
          <p:nvPr/>
        </p:nvSpPr>
        <p:spPr>
          <a:xfrm rot="17155503">
            <a:off x="2270118" y="2401416"/>
            <a:ext cx="1451382" cy="184209"/>
          </a:xfrm>
          <a:prstGeom prst="flowChartMagneticDrum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16" name="Έλλειψη 15"/>
          <p:cNvSpPr/>
          <p:nvPr/>
        </p:nvSpPr>
        <p:spPr>
          <a:xfrm>
            <a:off x="2795129" y="1125944"/>
            <a:ext cx="867745" cy="28973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 dirty="0"/>
          </a:p>
        </p:txBody>
      </p:sp>
      <p:sp>
        <p:nvSpPr>
          <p:cNvPr id="4" name="Γελαστό πρόσωπο 3"/>
          <p:cNvSpPr/>
          <p:nvPr/>
        </p:nvSpPr>
        <p:spPr>
          <a:xfrm>
            <a:off x="2771799" y="1043818"/>
            <a:ext cx="914400" cy="914400"/>
          </a:xfrm>
          <a:prstGeom prst="smileyFac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5" name="Καμπύλη ταινία προς τα κάτω 4"/>
          <p:cNvSpPr/>
          <p:nvPr/>
        </p:nvSpPr>
        <p:spPr>
          <a:xfrm>
            <a:off x="3012976" y="1770409"/>
            <a:ext cx="432048" cy="1656184"/>
          </a:xfrm>
          <a:prstGeom prst="ellipseRibbon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cxnSp>
        <p:nvCxnSpPr>
          <p:cNvPr id="7" name="Γωνιακή σύνδεση 6"/>
          <p:cNvCxnSpPr/>
          <p:nvPr/>
        </p:nvCxnSpPr>
        <p:spPr>
          <a:xfrm rot="16200000" flipH="1">
            <a:off x="5263062" y="1418721"/>
            <a:ext cx="1368153" cy="1368152"/>
          </a:xfrm>
          <a:prstGeom prst="bentConnector3">
            <a:avLst/>
          </a:prstGeom>
          <a:ln>
            <a:solidFill>
              <a:schemeClr val="bg1"/>
            </a:solidFill>
            <a:headEnd type="arrow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Γωνιακή σύνδεση 8"/>
          <p:cNvCxnSpPr/>
          <p:nvPr/>
        </p:nvCxnSpPr>
        <p:spPr>
          <a:xfrm rot="10800000" flipV="1">
            <a:off x="5191054" y="1520785"/>
            <a:ext cx="1440160" cy="1224136"/>
          </a:xfrm>
          <a:prstGeom prst="bentConnector3">
            <a:avLst/>
          </a:prstGeom>
          <a:ln>
            <a:solidFill>
              <a:schemeClr val="bg1"/>
            </a:solidFill>
            <a:headEnd type="arrow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Διάγραμμα ροής: Έξοδος σε μέσο άμεσης πρόσβασης 10"/>
          <p:cNvSpPr/>
          <p:nvPr/>
        </p:nvSpPr>
        <p:spPr>
          <a:xfrm rot="20607947">
            <a:off x="3306897" y="1894813"/>
            <a:ext cx="1483292" cy="159231"/>
          </a:xfrm>
          <a:prstGeom prst="flowChartMagneticDrum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13" name="Ορθογώνιο 12"/>
          <p:cNvSpPr/>
          <p:nvPr/>
        </p:nvSpPr>
        <p:spPr>
          <a:xfrm>
            <a:off x="735966" y="3933056"/>
            <a:ext cx="2063080" cy="1656184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cxnSp>
        <p:nvCxnSpPr>
          <p:cNvPr id="75" name="Ευθεία γραμμή σύνδεσης 74"/>
          <p:cNvCxnSpPr/>
          <p:nvPr/>
        </p:nvCxnSpPr>
        <p:spPr>
          <a:xfrm flipH="1">
            <a:off x="3120989" y="1011123"/>
            <a:ext cx="216024" cy="311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Έλλειψη 11"/>
          <p:cNvSpPr/>
          <p:nvPr/>
        </p:nvSpPr>
        <p:spPr>
          <a:xfrm>
            <a:off x="939414" y="4041068"/>
            <a:ext cx="1656184" cy="144016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17" name="Κύλινδρος 16"/>
          <p:cNvSpPr/>
          <p:nvPr/>
        </p:nvSpPr>
        <p:spPr>
          <a:xfrm>
            <a:off x="2795128" y="980728"/>
            <a:ext cx="867745" cy="280218"/>
          </a:xfrm>
          <a:prstGeom prst="can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 dirty="0"/>
          </a:p>
        </p:txBody>
      </p:sp>
      <p:sp>
        <p:nvSpPr>
          <p:cNvPr id="18" name="Έλλειψη 17"/>
          <p:cNvSpPr/>
          <p:nvPr/>
        </p:nvSpPr>
        <p:spPr>
          <a:xfrm>
            <a:off x="2646851" y="755026"/>
            <a:ext cx="1131283" cy="288792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 dirty="0"/>
          </a:p>
        </p:txBody>
      </p:sp>
      <p:sp>
        <p:nvSpPr>
          <p:cNvPr id="19" name="Διάγραμμα ροής: Έξοδος σε μέσο άμεσης πρόσβασης 18"/>
          <p:cNvSpPr/>
          <p:nvPr/>
        </p:nvSpPr>
        <p:spPr>
          <a:xfrm flipV="1">
            <a:off x="4274016" y="1739843"/>
            <a:ext cx="917038" cy="118165"/>
          </a:xfrm>
          <a:prstGeom prst="flowChartMagneticDrum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grpSp>
        <p:nvGrpSpPr>
          <p:cNvPr id="64" name="Ομάδα 63"/>
          <p:cNvGrpSpPr/>
          <p:nvPr/>
        </p:nvGrpSpPr>
        <p:grpSpPr>
          <a:xfrm rot="19718405">
            <a:off x="3186692" y="1114587"/>
            <a:ext cx="108000" cy="108000"/>
            <a:chOff x="427408" y="1108616"/>
            <a:chExt cx="576064" cy="535928"/>
          </a:xfrm>
          <a:effectLst>
            <a:glow rad="2286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54" name="Γωνιακή σύνδεση 53"/>
            <p:cNvCxnSpPr/>
            <p:nvPr/>
          </p:nvCxnSpPr>
          <p:spPr>
            <a:xfrm flipV="1">
              <a:off x="427408" y="1109250"/>
              <a:ext cx="576064" cy="534659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Γωνιακή σύνδεση 55"/>
            <p:cNvCxnSpPr/>
            <p:nvPr/>
          </p:nvCxnSpPr>
          <p:spPr>
            <a:xfrm rot="16200000" flipV="1">
              <a:off x="467544" y="1109250"/>
              <a:ext cx="535928" cy="534659"/>
            </a:xfrm>
            <a:prstGeom prst="bentConnector3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" name="Ευθεία γραμμή σύνδεσης 70"/>
          <p:cNvCxnSpPr/>
          <p:nvPr/>
        </p:nvCxnSpPr>
        <p:spPr>
          <a:xfrm flipV="1">
            <a:off x="2947229" y="1415674"/>
            <a:ext cx="97160" cy="1341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0" name="Ομάδα 79"/>
          <p:cNvGrpSpPr/>
          <p:nvPr/>
        </p:nvGrpSpPr>
        <p:grpSpPr>
          <a:xfrm rot="20065188">
            <a:off x="1227507" y="4220999"/>
            <a:ext cx="1080000" cy="1080000"/>
            <a:chOff x="4542982" y="3686975"/>
            <a:chExt cx="1440161" cy="1368153"/>
          </a:xfrm>
        </p:grpSpPr>
        <p:cxnSp>
          <p:nvCxnSpPr>
            <p:cNvPr id="76" name="Γωνιακή σύνδεση 75"/>
            <p:cNvCxnSpPr/>
            <p:nvPr/>
          </p:nvCxnSpPr>
          <p:spPr>
            <a:xfrm rot="16200000" flipH="1">
              <a:off x="4614990" y="3686976"/>
              <a:ext cx="1368153" cy="1368152"/>
            </a:xfrm>
            <a:prstGeom prst="bentConnector3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Γωνιακή σύνδεση 76"/>
            <p:cNvCxnSpPr/>
            <p:nvPr/>
          </p:nvCxnSpPr>
          <p:spPr>
            <a:xfrm rot="10800000" flipV="1">
              <a:off x="4542982" y="3789040"/>
              <a:ext cx="1440160" cy="1224136"/>
            </a:xfrm>
            <a:prstGeom prst="bentConnector3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3678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3" name="vine-boom.wav"/>
          </p:stSnd>
        </p:sndAc>
      </p:transition>
    </mc:Choice>
    <mc:Fallback>
      <p:transition spd="slow">
        <p:sndAc>
          <p:stSnd>
            <p:snd r:embed="rId3" name="vine-boom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Διάγραμμα ροής: Είσοδος/έξοδος 10"/>
          <p:cNvSpPr/>
          <p:nvPr/>
        </p:nvSpPr>
        <p:spPr>
          <a:xfrm>
            <a:off x="3095836" y="1556792"/>
            <a:ext cx="2160240" cy="720080"/>
          </a:xfrm>
          <a:prstGeom prst="flowChartInputOutp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ΓΕΙΑ</a:t>
            </a:r>
            <a:endParaRPr lang="el-GR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2" name="Διάγραμμα ροής: Απόφαση 11"/>
          <p:cNvSpPr/>
          <p:nvPr/>
        </p:nvSpPr>
        <p:spPr>
          <a:xfrm>
            <a:off x="3509882" y="2733845"/>
            <a:ext cx="1332148" cy="1152128"/>
          </a:xfrm>
          <a:prstGeom prst="flowChartDecisi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Α&gt;0</a:t>
            </a:r>
            <a:endParaRPr lang="el-GR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3" name="Διάγραμμα ροής: Αρχή/τέλος εργασίας 12"/>
          <p:cNvSpPr/>
          <p:nvPr/>
        </p:nvSpPr>
        <p:spPr>
          <a:xfrm>
            <a:off x="3419872" y="512676"/>
            <a:ext cx="1512168" cy="36004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ΑΡΧΗ</a:t>
            </a:r>
            <a:endParaRPr lang="el-GR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cxnSp>
        <p:nvCxnSpPr>
          <p:cNvPr id="18" name="Ευθεία γραμμή σύνδεσης 17"/>
          <p:cNvCxnSpPr>
            <a:stCxn id="13" idx="2"/>
            <a:endCxn id="11" idx="1"/>
          </p:cNvCxnSpPr>
          <p:nvPr/>
        </p:nvCxnSpPr>
        <p:spPr>
          <a:xfrm>
            <a:off x="4175956" y="872716"/>
            <a:ext cx="0" cy="684076"/>
          </a:xfrm>
          <a:prstGeom prst="lin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21" name="Ευθεία γραμμή σύνδεσης 20"/>
          <p:cNvCxnSpPr>
            <a:stCxn id="11" idx="4"/>
            <a:endCxn id="12" idx="0"/>
          </p:cNvCxnSpPr>
          <p:nvPr/>
        </p:nvCxnSpPr>
        <p:spPr>
          <a:xfrm>
            <a:off x="4175956" y="2276872"/>
            <a:ext cx="0" cy="456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Διάγραμμα ροής: Είσοδος/έξοδος 21"/>
          <p:cNvSpPr/>
          <p:nvPr/>
        </p:nvSpPr>
        <p:spPr>
          <a:xfrm>
            <a:off x="1655676" y="4304916"/>
            <a:ext cx="1764196" cy="864096"/>
          </a:xfrm>
          <a:prstGeom prst="flowChartInputOutp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ΝΑΙ</a:t>
            </a:r>
            <a:endParaRPr lang="el-GR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4" name="Διάγραμμα ροής: Είσοδος/έξοδος 23"/>
          <p:cNvSpPr/>
          <p:nvPr/>
        </p:nvSpPr>
        <p:spPr>
          <a:xfrm>
            <a:off x="4752020" y="4304916"/>
            <a:ext cx="1764196" cy="864096"/>
          </a:xfrm>
          <a:prstGeom prst="flowChartInputOutp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ΟΧΙ</a:t>
            </a:r>
            <a:endParaRPr lang="el-GR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cxnSp>
        <p:nvCxnSpPr>
          <p:cNvPr id="29" name="Ευθεία γραμμή σύνδεσης 28"/>
          <p:cNvCxnSpPr>
            <a:stCxn id="12" idx="1"/>
            <a:endCxn id="22" idx="0"/>
          </p:cNvCxnSpPr>
          <p:nvPr/>
        </p:nvCxnSpPr>
        <p:spPr>
          <a:xfrm flipH="1">
            <a:off x="2714194" y="3309909"/>
            <a:ext cx="795688" cy="995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Ευθεία γραμμή σύνδεσης 30"/>
          <p:cNvCxnSpPr>
            <a:stCxn id="12" idx="3"/>
            <a:endCxn id="24" idx="0"/>
          </p:cNvCxnSpPr>
          <p:nvPr/>
        </p:nvCxnSpPr>
        <p:spPr>
          <a:xfrm>
            <a:off x="4842030" y="3309909"/>
            <a:ext cx="968508" cy="995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Διάγραμμα ροής: Αρχή/τέλος εργασίας 37"/>
          <p:cNvSpPr/>
          <p:nvPr/>
        </p:nvSpPr>
        <p:spPr>
          <a:xfrm>
            <a:off x="3419872" y="5733256"/>
            <a:ext cx="1512168" cy="36004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ΤΕΛΟΣ</a:t>
            </a:r>
            <a:endParaRPr lang="el-GR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cxnSp>
        <p:nvCxnSpPr>
          <p:cNvPr id="40" name="Ευθεία γραμμή σύνδεσης 39"/>
          <p:cNvCxnSpPr>
            <a:stCxn id="38" idx="3"/>
            <a:endCxn id="24" idx="4"/>
          </p:cNvCxnSpPr>
          <p:nvPr/>
        </p:nvCxnSpPr>
        <p:spPr>
          <a:xfrm flipV="1">
            <a:off x="4932040" y="5169012"/>
            <a:ext cx="702078" cy="744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Ευθεία γραμμή σύνδεσης 41"/>
          <p:cNvCxnSpPr>
            <a:stCxn id="22" idx="4"/>
            <a:endCxn id="38" idx="1"/>
          </p:cNvCxnSpPr>
          <p:nvPr/>
        </p:nvCxnSpPr>
        <p:spPr>
          <a:xfrm>
            <a:off x="2537774" y="5169012"/>
            <a:ext cx="882098" cy="744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71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ndAc>
          <p:stSnd>
            <p:snd r:embed="rId3" name="53b1bab6-a8c3-4a1a-82db-7110ce1c29ef_6KNDGWD.wav"/>
          </p:stSnd>
        </p:sndAc>
      </p:transition>
    </mc:Choice>
    <mc:Fallback>
      <p:transition spd="slow">
        <p:sndAc>
          <p:stSnd>
            <p:snd r:embed="rId3" name="53b1bab6-a8c3-4a1a-82db-7110ce1c29ef_6KNDGWD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Γράφημα 1"/>
          <p:cNvGraphicFramePr/>
          <p:nvPr>
            <p:extLst>
              <p:ext uri="{D42A27DB-BD31-4B8C-83A1-F6EECF244321}">
                <p14:modId xmlns:p14="http://schemas.microsoft.com/office/powerpoint/2010/main" val="2307848060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Ορθογώνιο 2"/>
          <p:cNvSpPr/>
          <p:nvPr/>
        </p:nvSpPr>
        <p:spPr>
          <a:xfrm>
            <a:off x="2312211" y="404664"/>
            <a:ext cx="45720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l-GR" dirty="0"/>
              <a:t>ΓΡΑΦΗΜΑ – Α Τρίμηνο 2025 Πωλήσεις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16252775"/>
      </p:ext>
    </p:extLst>
  </p:cSld>
  <p:clrMapOvr>
    <a:masterClrMapping/>
  </p:clrMapOvr>
  <p:transition spd="slow">
    <p:push dir="u"/>
    <p:sndAc>
      <p:stSnd>
        <p:snd r:embed="rId3" name="slowed-down-roblox-death-noise_6spRpf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υματισμός 1"/>
          <p:cNvSpPr/>
          <p:nvPr/>
        </p:nvSpPr>
        <p:spPr>
          <a:xfrm>
            <a:off x="899592" y="1268760"/>
            <a:ext cx="6840760" cy="3888432"/>
          </a:xfrm>
          <a:prstGeom prst="wave">
            <a:avLst>
              <a:gd name="adj1" fmla="val 12500"/>
              <a:gd name="adj2" fmla="val 266"/>
            </a:avLst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pic>
        <p:nvPicPr>
          <p:cNvPr id="4" name="Εικόνα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063597"/>
            <a:ext cx="1873459" cy="2266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3608" y="199671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Miltarverwaltung</a:t>
            </a:r>
            <a:endParaRPr lang="en-US" dirty="0" smtClean="0"/>
          </a:p>
          <a:p>
            <a:r>
              <a:rPr lang="en-US" dirty="0" err="1" smtClean="0"/>
              <a:t>Reichsarmeen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149315" y="3501008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Waffen-SS</a:t>
            </a:r>
          </a:p>
          <a:p>
            <a:r>
              <a:rPr lang="en-US" dirty="0" err="1" smtClean="0"/>
              <a:t>Schutzgruppe</a:t>
            </a:r>
            <a:r>
              <a:rPr lang="en-US" dirty="0" smtClean="0"/>
              <a:t> “</a:t>
            </a:r>
            <a:r>
              <a:rPr lang="en-US" dirty="0" err="1" smtClean="0"/>
              <a:t>Ehrart</a:t>
            </a:r>
            <a:r>
              <a:rPr lang="en-US" dirty="0" smtClean="0"/>
              <a:t>”</a:t>
            </a:r>
            <a:endParaRPr lang="el-GR" dirty="0" smtClean="0"/>
          </a:p>
          <a:p>
            <a:endParaRPr lang="en-US" dirty="0" smtClean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38728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73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Χαρτί">
  <a:themeElements>
    <a:clrScheme name="Χαρτί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Χαρτί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Χαρτί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159</TotalTime>
  <Words>68</Words>
  <Application>Microsoft Office PowerPoint</Application>
  <PresentationFormat>Προβολή στην οθόνη (4:3)</PresentationFormat>
  <Paragraphs>26</Paragraphs>
  <Slides>6</Slides>
  <Notes>4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7" baseType="lpstr">
      <vt:lpstr>Χαρτί</vt:lpstr>
      <vt:lpstr>Matrix - Table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- Table</dc:title>
  <dc:creator>student</dc:creator>
  <cp:lastModifiedBy>student</cp:lastModifiedBy>
  <cp:revision>13</cp:revision>
  <dcterms:created xsi:type="dcterms:W3CDTF">2025-01-10T14:33:43Z</dcterms:created>
  <dcterms:modified xsi:type="dcterms:W3CDTF">2025-01-10T17:13:15Z</dcterms:modified>
</cp:coreProperties>
</file>